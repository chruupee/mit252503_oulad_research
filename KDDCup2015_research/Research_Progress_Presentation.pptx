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Predictive Analytics for Early Identification of At-Risk Users in Digital Platforms</a:t>
            </a:r>
          </a:p>
          <a:p>
            <a:pPr algn="ctr">
              <a:defRPr sz="2200">
                <a:solidFill>
                  <a:srgbClr val="DDEBF7"/>
                </a:solidFill>
                <a:latin typeface="Aptos"/>
              </a:defRPr>
            </a:pPr>
            <a:r>
              <a:t>Research Progress Presentation</a:t>
            </a:r>
          </a:p>
          <a:p>
            <a:pPr algn="ctr">
              <a:defRPr sz="1600">
                <a:solidFill>
                  <a:srgbClr val="FFFFFF"/>
                </a:solidFill>
                <a:latin typeface="Aptos"/>
              </a:defRPr>
            </a:pPr>
            <a:r>
              <a:t>Saurav Dhakal | Master of IT — Data Analytics</a:t>
            </a:r>
          </a:p>
          <a:p>
            <a:pPr algn="ctr">
              <a:defRPr sz="1400">
                <a:solidFill>
                  <a:srgbClr val="DDEBF7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1. 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  <a:latin typeface="Aptos"/>
              </a:defRPr>
            </a:pPr>
            <a:r>
              <a:t>Why early identification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The research focuses on identifying risk early using behavioural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Digital learning platforms generate detailed behavioural interaction data.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Early disengagement can appear before poor learning outcomes become visible.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Traditional identification may occur too late for meaningful intervention.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research investigates whether the first four weeks of behaviour can provide useful predictive signals.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study also examines whether these patterns remain consistent across different learning cohorts.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2. Research Aim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4C8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Research 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Develop an explainable and cohort-robust predictive analytics approach for early identification of at-risk learners.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Key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Identify early behavioural engagement patterns associated with risk.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Develop predictive models using early behavioural data.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Explain which features contribute to model predictions.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Assess consistency across different learning cohorts.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Examine subgroup-level fairness and predictive behaviour.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3.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RQ1 — Which early behavioural features are associated with increased risk?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RQ2 — How effectively can early behavioural data predict at-risk users?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RQ3 — Which behavioural features contribute most strongly to predictions?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RQ4 — Are behavioural patterns consistent across different learning cohorts?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RQ5 — Does predictive behaviour differ across demographic groups?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4. Overall Research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OULAD + KDD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Early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First 4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176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9896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Behavioural engagement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4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LR + RF + XGBoost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2592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SHAP / contributions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CV + fairness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2194560"/>
            <a:ext cx="1417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96728" y="2359152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3452"/>
                </a:solidFill>
              </a:defRPr>
            </a:pPr>
            <a:r>
              <a:t>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2788920"/>
            <a:ext cx="1325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Cross-cohort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Research framing: cohort-robust, explainable and intervention-linked.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All major modelling steps use leakage-safe preprocessing and stratified validation.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5. Datasets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32,593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OULAD student-course-presentations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554480"/>
          </a:xfrm>
          <a:prstGeom prst="roundRect">
            <a:avLst/>
          </a:prstGeom>
          <a:solidFill>
            <a:srgbClr val="E2EFDA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554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120,542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21945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KDD Cup 2015 training enrollments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OULAD — Open University Learning Analytics Dataset.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KDD Cup 2015 — MOOC enrolment and interaction data.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Both datasets provide behavioural activity that can be transformed into an early four-week observation window.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OULAD target: operationalised At-Risk outcome.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KDD target: Dropout outcome.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Important: the two outcome definitions are not identical.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6. Data Preparation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Leakage-safe and reproducible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Validated dataset structure, identifiers and target labels.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Removed/handled duplicate records and verified unique student/enrolment keys.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Converted raw interaction logs into an aligned first-four-week observation window.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Checked feature coverage and missing values.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Median imputation and scaling were fitted on training data only.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SMOTE was applied only to training data where evaluated.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10-fold stratified cross-validation was used for model stability.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7. Early Four-Week Feature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total_interactions_4w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 behavioural interactions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active_days_4w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Number of active days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active_weeks_4w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Number of active weeks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unique_resources_4w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Distinct learning resources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vle_records_4w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VLE activity records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assessment_count_4w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Assessment participation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mean_score_4w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Mean assessment score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max_score_4w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Maximum assessment score</a:t>
                      </a:r>
                    </a:p>
                  </a:txBody>
                  <a:tcPr marL="45720" marR="45720" marT="27432" marB="27432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assessment_score_std_4w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Variation in assessment scores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8. OULAD — Early Behavioural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12.85 vs 6.51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Average active days</a:t>
            </a:r>
            <a:br/>
            <a:r>
              <a:t>Not At-Risk vs At-Risk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74320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335.11 vs 147.03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Average 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743200" cy="1371600"/>
          </a:xfrm>
          <a:prstGeom prst="roundRect">
            <a:avLst/>
          </a:prstGeom>
          <a:solidFill>
            <a:srgbClr val="FCE4CD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26.56 vs 15.22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Unique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371600"/>
            <a:ext cx="228600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5544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77.53 vs 65.90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1945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Mean assessment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Not At-Risk learners showed higher early activity across major engagement measures.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Assessment participation: 78.10% for Not At-Risk vs 47.82% for At-Risk.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Mean assessment score: 77.53 vs 65.90.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These are observational group differences and should not be interpreted causally.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9. OULAD — Predictive Modelling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AU-ROC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0.6993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0.6395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0.6919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0.7732</a:t>
                      </a:r>
                    </a:p>
                  </a:txBody>
                  <a:tcPr marL="45720" marR="45720" marT="27432" marB="27432"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0.7005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0.7409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0.6658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0.7013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0.7688</a:t>
                      </a:r>
                    </a:p>
                  </a:txBody>
                  <a:tcPr marL="45720" marR="45720" marT="27432" marB="27432"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0.7191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0.7659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0.6742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0.7170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0.7971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862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Results shown are leakage-safe stratified 10-fold cross-validation means.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XGBoost achieved AU-ROC = 0.7971 in the OULAD cohort.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Model performance was reasonably stable across folds.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SMOTE sensitivity analysis showed little change in AU-ROC, supporting the use of sensitivity analysis rather than treating SMOTE as automatically beneficial.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10. OULAD — 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4C8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Feature contribution analysis using XGBoost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5740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|Contribution|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active_weeks_4w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0.4461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active_days_4w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0.3564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mean_score_4w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0.2713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total_clicks_4w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0.2611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unique_resources_4w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0.2138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assessment_count_4w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0.1907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max_score_4w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0.1722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vle_records_4w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0.0817</a:t>
                      </a:r>
                    </a:p>
                  </a:txBody>
                  <a:tcPr marL="45720" marR="45720" marT="27432" marB="27432"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assessment_score_std_4w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0.0141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19456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Temporal engagement features were prominent contributors.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Active weeks and active days had particularly large contributions.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Feature attribution describes model behaviour, not causal importance.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Correlated behavioural features may share predictive contribution.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11. OULAD — Fairness &amp; Subgroup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FPR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FNR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Gender: M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3602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0.748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0.687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0.181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0.313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Gender: F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2917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0.718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0.271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0.293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Age: 0–35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4613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0.734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0.704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0.228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0.296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Age: 35–55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1854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0.736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0.671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0.329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Age: 55+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0.712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0.650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0.250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0.350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Disability: 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5864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0.738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0.698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0.218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0.302</a:t>
                      </a:r>
                    </a:p>
                  </a:txBody>
                  <a:tcPr marL="45720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Disability: 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655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0.698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0.680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0.274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0.320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06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Subgroup differences were observed in FPR, FNR and other performance metrics.</a:t>
            </a:r>
          </a:p>
          <a:p>
            <a:pPr>
              <a:spcAft>
                <a:spcPts val="10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Small subgroup sizes require cautious interpretation, especially the 55+ group.</a:t>
            </a:r>
          </a:p>
          <a:p>
            <a:pPr>
              <a:spcAft>
                <a:spcPts val="10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Fairness should be assessed using multiple metrics rather than a single overall accuracy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12. KDD Cup 2015 — Findings &amp; Modelling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560320" cy="1371600"/>
          </a:xfrm>
          <a:prstGeom prst="roundRect">
            <a:avLst/>
          </a:prstGeom>
          <a:solidFill>
            <a:srgbClr val="FCE4CD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463039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79.29%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103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Dropout prevalence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80160"/>
            <a:ext cx="2560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463039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192.72 vs 33.80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Mean interactions</a:t>
            </a:r>
            <a:br/>
            <a:r>
              <a:t>Not Dropout vs Dropout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6032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39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5.97 vs 1.73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Mean active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280160"/>
            <a:ext cx="256032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1463039"/>
            <a:ext cx="23774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0.8542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2103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XGBoost 10-fold AU-ROC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All four early engagement features showed statistically significant group differences.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Strong correlations were observed among engagement variables, particularly interactions and unique resources (Spearman ρ = 0.973).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10-fold CV: Logistic AU-ROC = 0.8532; RF = 0.8039; XGBoost = 0.8542.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Threshold analysis showed that lower thresholds increased recall but also increased false-positive rates.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13. KDD — Explainability &amp; Prediction Behaviour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|Contribution|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Relative contribution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active_days_4w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0.7873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49.49%</a:t>
                      </a:r>
                    </a:p>
                  </a:txBody>
                  <a:tcPr marL="45720" marR="45720" marT="27432" marB="27432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total_interactions_4w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0.3872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24.34%</a:t>
                      </a:r>
                    </a:p>
                  </a:txBody>
                  <a:tcPr marL="45720" marR="45720" marT="27432" marB="27432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unique_resources_4w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0.2839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17.84%</a:t>
                      </a:r>
                    </a:p>
                  </a:txBody>
                  <a:tcPr marL="45720" marR="45720" marT="27432" marB="27432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active_weeks_4w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0.1325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8.33%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28016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Active days had the largest mean absolute contribution.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Higher engagement was strongly associated with lower predicted dropout probability.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Spearman correlations with predicted dropout probability:</a:t>
            </a:r>
          </a:p>
          <a:p>
            <a:pPr lvl="1">
              <a:spcAft>
                <a:spcPts val="1000"/>
              </a:spcAft>
              <a:defRPr sz="1000">
                <a:solidFill>
                  <a:srgbClr val="232323"/>
                </a:solidFill>
                <a:latin typeface="Aptos"/>
              </a:defRPr>
            </a:pPr>
            <a:r>
              <a:t>Total interactions: −0.9476</a:t>
            </a:r>
          </a:p>
          <a:p>
            <a:pPr lvl="1">
              <a:spcAft>
                <a:spcPts val="1000"/>
              </a:spcAft>
              <a:defRPr sz="1000">
                <a:solidFill>
                  <a:srgbClr val="232323"/>
                </a:solidFill>
                <a:latin typeface="Aptos"/>
              </a:defRPr>
            </a:pPr>
            <a:r>
              <a:t>Active days: −0.8643</a:t>
            </a:r>
          </a:p>
          <a:p>
            <a:pPr lvl="1">
              <a:spcAft>
                <a:spcPts val="1000"/>
              </a:spcAft>
              <a:defRPr sz="1000">
                <a:solidFill>
                  <a:srgbClr val="232323"/>
                </a:solidFill>
                <a:latin typeface="Aptos"/>
              </a:defRPr>
            </a:pPr>
            <a:r>
              <a:t>Active weeks: −0.7529</a:t>
            </a:r>
          </a:p>
          <a:p>
            <a:pPr lvl="1">
              <a:spcAft>
                <a:spcPts val="1000"/>
              </a:spcAft>
              <a:defRPr sz="1000">
                <a:solidFill>
                  <a:srgbClr val="232323"/>
                </a:solidFill>
                <a:latin typeface="Aptos"/>
              </a:defRPr>
            </a:pPr>
            <a:r>
              <a:t>Unique resources: −0.9229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These are predictive associations, not causal effects.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14. Cross-Cohort Consistency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200400" cy="1554480"/>
          </a:xfrm>
          <a:prstGeom prst="roundRect">
            <a:avLst/>
          </a:prstGeom>
          <a:solidFill>
            <a:srgbClr val="E2EFDA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508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14884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Direction consistency</a:t>
            </a:r>
            <a:br/>
            <a:r>
              <a:t>4 / 4 aligned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0.468–0.497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OULAD Cliff's delta</a:t>
            </a:r>
            <a:br/>
            <a:r>
              <a:t>aligned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200400" cy="1554480"/>
          </a:xfrm>
          <a:prstGeom prst="roundRect">
            <a:avLst/>
          </a:prstGeom>
          <a:solidFill>
            <a:srgbClr val="FCE4CD"/>
          </a:solidFill>
          <a:ln>
            <a:solidFill>
              <a:srgbClr val="1F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452"/>
                </a:solidFill>
                <a:latin typeface="Aptos Display"/>
              </a:defRPr>
            </a:pPr>
            <a:r>
              <a:t>0.589–0.683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323"/>
                </a:solidFill>
                <a:latin typeface="Aptos"/>
              </a:defRPr>
            </a:pPr>
            <a:r>
              <a:t>KDD Cliff's delta</a:t>
            </a:r>
            <a:br/>
            <a:r>
              <a:t>aligned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Four common engagement features were aligned across OULAD and KDD.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Total interactions, active days, active weeks and unique resources showed the same direction in both cohorts.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Lower-risk outcome groups consistently displayed higher early engagement.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Effect sizes indicated medium-to-large distributional separation.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This demonstrates consistency of behavioural patterns, not universal generalisability.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15. Bidirectional Cross-Cohort Model Transfer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Transfer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AU-ROC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PR-AUC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Pred. Positive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Positive</a:t>
                      </a:r>
                    </a:p>
                  </a:txBody>
                  <a:tcPr marL="45720" marR="45720" marT="27432" marB="27432">
                    <a:solidFill>
                      <a:srgbClr val="1F345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OULAD → KDD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0.8328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0.9036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0.7795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0.8838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94.08%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79.29%</a:t>
                      </a:r>
                    </a:p>
                  </a:txBody>
                  <a:tcPr marL="45720" marR="45720" marT="27432" marB="27432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KDD → OULAD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0.6751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0.6586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0.7470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0.7875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42.38%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52.80%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Predictive discrimination was retained in both transfer directions.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OULAD → KDD: AU-ROC = 0.7795.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KDD → OULAD: AU-ROC = 0.7470.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However, predicted positive rates shifted relative to target-cohort prevalence.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OULAD → KDD: +14.79 percentage points.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KDD → OULAD: −10.42 percentage points.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This indicates cohort shift and supports cohort-specific calibration.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52"/>
                </a:solidFill>
                <a:latin typeface="Aptos Display"/>
              </a:defRPr>
            </a:pPr>
            <a:r>
              <a:t>16. Conclusions, Limitations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4C8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What the study has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Early behavioural engagement contains measurable predictive signal for at-risk learning outcomes.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Predictive models performed consistently within both OULAD and KDD cohorts.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Explainability identified activity and interaction measures as important contributors.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Behavioural direction was consistent across both cohorts.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Cross-cohort transfer retained discrimination but showed calibration/classification shifts.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624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Key limitations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OULAD At-Risk and KDD Dropout are different outcome definitions.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Observational data cannot establish causal effects.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Cross-cohort transfer requires cohort-specific calibration.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Next: thesis writing, calibration analysis, intervention implications and final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656832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DDEBF7"/>
                </a:solidFill>
              </a:defRPr>
            </a:pPr>
            <a:r>
              <a:t>Questions &amp; Discussion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Predictive Analytics for Early Identification of At-Risk Users in Digital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