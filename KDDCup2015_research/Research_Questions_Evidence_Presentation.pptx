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4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5448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Research Questions</a:t>
            </a:r>
          </a:p>
          <a:p>
            <a:pPr algn="ctr">
              <a:defRPr sz="2700">
                <a:solidFill>
                  <a:srgbClr val="DDEBF7"/>
                </a:solidFill>
              </a:defRPr>
            </a:pPr>
            <a:r>
              <a:t>Evidence, Results &amp; Answers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Predictive Analytics for Early Identification of At-Risk Users in Digital Platforms</a:t>
            </a:r>
          </a:p>
          <a:p>
            <a:pPr algn="ctr">
              <a:defRPr sz="1500">
                <a:solidFill>
                  <a:srgbClr val="DDEBF7"/>
                </a:solidFill>
              </a:defRPr>
            </a:pPr>
            <a:r>
              <a:t>Saurav Dhakal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Research Questions — Current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Each question is mapped to completed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685800"/>
          </a:xfrm>
          <a:prstGeom prst="roundRect">
            <a:avLst/>
          </a:prstGeom>
          <a:solidFill>
            <a:srgbClr val="E2EFDA"/>
          </a:solidFill>
          <a:ln>
            <a:solidFill>
              <a:srgbClr val="4C8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99031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323"/>
                </a:solidFill>
              </a:defRPr>
            </a:pPr>
            <a:r>
              <a:t>RQ1 — Which early behavioural features are associated with increased risk?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685800"/>
          </a:xfrm>
          <a:prstGeom prst="roundRect">
            <a:avLst/>
          </a:prstGeom>
          <a:solidFill>
            <a:srgbClr val="E2EFDA"/>
          </a:solidFill>
          <a:ln>
            <a:solidFill>
              <a:srgbClr val="4C8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323"/>
                </a:solidFill>
              </a:defRPr>
            </a:pPr>
            <a:r>
              <a:t>RQ2 — How effectively can early behavioural data predict at-risk users?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685800"/>
          </a:xfrm>
          <a:prstGeom prst="roundRect">
            <a:avLst/>
          </a:prstGeom>
          <a:solidFill>
            <a:srgbClr val="E2EFDA"/>
          </a:solidFill>
          <a:ln>
            <a:solidFill>
              <a:srgbClr val="4C8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1927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323"/>
                </a:solidFill>
              </a:defRPr>
            </a:pPr>
            <a:r>
              <a:t>RQ3 — Which behavioural features contribute most strongly to predictions?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10698480" cy="685800"/>
          </a:xfrm>
          <a:prstGeom prst="roundRect">
            <a:avLst/>
          </a:prstGeom>
          <a:solidFill>
            <a:srgbClr val="E2EFDA"/>
          </a:solidFill>
          <a:ln>
            <a:solidFill>
              <a:srgbClr val="4C8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7939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323"/>
                </a:solidFill>
              </a:defRPr>
            </a:pPr>
            <a:r>
              <a:t>RQ4 — Are behavioural patterns consistent across different cohorts?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698480" cy="685800"/>
          </a:xfrm>
          <a:prstGeom prst="roundRect">
            <a:avLst/>
          </a:prstGeom>
          <a:solidFill>
            <a:srgbClr val="FCE4CD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3951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323"/>
                </a:solidFill>
              </a:defRPr>
            </a:pPr>
            <a:r>
              <a:t>RQ5 — Does predictive behaviour differ across demographic groups?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RQ1 — Early Behavioural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What behavioural patterns are associated with risk?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10881360" cy="1143000"/>
          </a:xfrm>
          <a:prstGeom prst="roundRect">
            <a:avLst/>
          </a:prstGeom>
          <a:solidFill>
            <a:srgbClr val="DDEBF7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44751"/>
            <a:ext cx="10424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3452"/>
                </a:solidFill>
                <a:latin typeface="Aptos"/>
              </a:defRPr>
            </a:pPr>
            <a:r>
              <a:t>Which early behavioural engagement features are associated with increased risk?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881360" cy="1371600"/>
          </a:xfrm>
          <a:prstGeom prst="roundRect">
            <a:avLst/>
          </a:prstGeom>
          <a:solidFill>
            <a:srgbClr val="E2EFDA"/>
          </a:solidFill>
          <a:ln>
            <a:solidFill>
              <a:srgbClr val="4C8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10424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232323"/>
                </a:solidFill>
                <a:latin typeface="Aptos"/>
              </a:defRPr>
            </a:pPr>
            <a:r>
              <a:t>ANSWER: Higher early engagement was consistently associated with the lower-risk outcome group.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OULAD: Not At-Risk users showed higher interactions, active days, active weeks and unique resources.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KDD: Not Dropout users showed higher values across the same four aligned features.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All four aligned features showed the same direction across both cohorts.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OULAD mean interactions: 335.11 vs 147.03.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KDD mean interactions: 192.72 vs 33.80.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RQ2 — Predictive Effectiveness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Can early behavioural data predict at-risk users?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10881360" cy="1143000"/>
          </a:xfrm>
          <a:prstGeom prst="roundRect">
            <a:avLst/>
          </a:prstGeom>
          <a:solidFill>
            <a:srgbClr val="DDEBF7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44751"/>
            <a:ext cx="10424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3452"/>
                </a:solidFill>
                <a:latin typeface="Aptos"/>
              </a:defRPr>
            </a:pPr>
            <a:r>
              <a:t>How effectively can early behavioural data predict at-risk users?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881360" cy="1371600"/>
          </a:xfrm>
          <a:prstGeom prst="roundRect">
            <a:avLst/>
          </a:prstGeom>
          <a:solidFill>
            <a:srgbClr val="E2EFDA"/>
          </a:solidFill>
          <a:ln>
            <a:solidFill>
              <a:srgbClr val="4C8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10424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232323"/>
                </a:solidFill>
                <a:latin typeface="Aptos"/>
              </a:defRPr>
            </a:pPr>
            <a:r>
              <a:t>ANSWER: Early behavioural features provided measurable predictive discrimination in both cohorts.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34840"/>
            <a:ext cx="5212080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52627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3452"/>
                </a:solidFill>
              </a:defRPr>
            </a:pPr>
            <a:r>
              <a:t>OULAD: XGBoost AU-ROC = 0.7971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4434840"/>
            <a:ext cx="5212080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52627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3452"/>
                </a:solidFill>
              </a:defRPr>
            </a:pPr>
            <a:r>
              <a:t>KDD: XGBoost AU-ROC = 0.8542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49240"/>
            <a:ext cx="5212080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44067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3452"/>
                </a:solidFill>
              </a:defRPr>
            </a:pPr>
            <a:r>
              <a:t>OULAD: 10-fold F1 = 0.7170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5349240"/>
            <a:ext cx="5212080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544067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3452"/>
                </a:solidFill>
              </a:defRPr>
            </a:pPr>
            <a:r>
              <a:t>KDD: 10-fold F1 = 0.9172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RQ3 —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Which features contribute most strongly to predictions?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10881360" cy="1143000"/>
          </a:xfrm>
          <a:prstGeom prst="roundRect">
            <a:avLst/>
          </a:prstGeom>
          <a:solidFill>
            <a:srgbClr val="DDEBF7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44751"/>
            <a:ext cx="10424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3452"/>
                </a:solidFill>
                <a:latin typeface="Aptos"/>
              </a:defRPr>
            </a:pPr>
            <a:r>
              <a:t>Which behavioural features contribute most strongly to model predictions?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881360" cy="1371600"/>
          </a:xfrm>
          <a:prstGeom prst="roundRect">
            <a:avLst/>
          </a:prstGeom>
          <a:solidFill>
            <a:srgbClr val="E2EFDA"/>
          </a:solidFill>
          <a:ln>
            <a:solidFill>
              <a:srgbClr val="4C8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10424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232323"/>
                </a:solidFill>
                <a:latin typeface="Aptos"/>
              </a:defRPr>
            </a:pPr>
            <a:r>
              <a:t>ANSWER: Activity frequency and interaction behaviour were major contributors to model predictions.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05840" y="4297680"/>
          <a:ext cx="101498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  <a:gridCol w="338328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 |Contribution|</a:t>
                      </a:r>
                    </a:p>
                  </a:txBody>
                  <a:tcPr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Relative contribution</a:t>
                      </a:r>
                    </a:p>
                  </a:txBody>
                  <a:tcPr>
                    <a:solidFill>
                      <a:srgbClr val="1F34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active_days_4w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0.7873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49.49%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total_interactions_4w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0.3872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24.34%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unique_resources_4w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0.2839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17.84%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active_weeks_4w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0.1325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8.33%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RQ4 — Cross-Cohort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Do the behavioural patterns remain consistent?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10881360" cy="1143000"/>
          </a:xfrm>
          <a:prstGeom prst="roundRect">
            <a:avLst/>
          </a:prstGeom>
          <a:solidFill>
            <a:srgbClr val="DDEBF7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44751"/>
            <a:ext cx="10424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3452"/>
                </a:solidFill>
                <a:latin typeface="Aptos"/>
              </a:defRPr>
            </a:pPr>
            <a:r>
              <a:t>Are the identified behavioural patterns consistent across different learning cohorts?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881360" cy="1371600"/>
          </a:xfrm>
          <a:prstGeom prst="roundRect">
            <a:avLst/>
          </a:prstGeom>
          <a:solidFill>
            <a:srgbClr val="E2EFDA"/>
          </a:solidFill>
          <a:ln>
            <a:solidFill>
              <a:srgbClr val="4C8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10424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232323"/>
                </a:solidFill>
                <a:latin typeface="Aptos"/>
              </a:defRPr>
            </a:pPr>
            <a:r>
              <a:t>ANSWER: The direction of all four aligned engagement features was consistent across OULAD and KDD.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Direction consistency: 4 / 4 features = 100%.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Features: total interactions, active days, active weeks and unique resources.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OULAD Cliff's delta range: 0.4151–0.4972.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KDD Cliff's delta range: 0.5886–0.6826.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The consistency supports cross-cohort behavioural evidence, but does not prove universal generalisability.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RQ4 — Bidirectional Transfer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Does predictive signal transfer between cohorts?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701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Transfer</a:t>
                      </a:r>
                    </a:p>
                  </a:txBody>
                  <a:tcPr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AU-ROC</a:t>
                      </a:r>
                    </a:p>
                  </a:txBody>
                  <a:tcPr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Predicted Positive</a:t>
                      </a:r>
                    </a:p>
                  </a:txBody>
                  <a:tcPr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Actual Positive</a:t>
                      </a:r>
                    </a:p>
                  </a:txBody>
                  <a:tcPr>
                    <a:solidFill>
                      <a:srgbClr val="1F345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OULAD → KDD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0.8838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0.9036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94.08%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79.29%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KDD → OULAD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0.6586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42.38%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52.80%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3977639"/>
            <a:ext cx="10881360" cy="1051560"/>
          </a:xfrm>
          <a:prstGeom prst="roundRect">
            <a:avLst/>
          </a:prstGeom>
          <a:solidFill>
            <a:srgbClr val="FCE4CD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60520"/>
            <a:ext cx="1042416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232323"/>
                </a:solidFill>
                <a:latin typeface="Aptos"/>
              </a:defRPr>
            </a:pPr>
            <a:r>
              <a:t>ANSWER: Predictive discrimination transferred in both directions, but classification behaviour shifted between cohorts.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OULAD → KDD positive-rate difference: +14.79 percentage points.</a:t>
            </a:r>
          </a:p>
          <a:p>
            <a:pPr>
              <a:spcAft>
                <a:spcPts val="8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KDD → OULAD positive-rate difference: −10.42 percentage points.</a:t>
            </a:r>
          </a:p>
          <a:p>
            <a:pPr>
              <a:spcAft>
                <a:spcPts val="8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This indicates cohort shift and the need for cohort-specific calibration.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RQ5 — Fairness &amp; Subgroup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Does predictive behaviour differ across demographic groups?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10881360" cy="1143000"/>
          </a:xfrm>
          <a:prstGeom prst="roundRect">
            <a:avLst/>
          </a:prstGeom>
          <a:solidFill>
            <a:srgbClr val="DDEBF7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44751"/>
            <a:ext cx="10424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3452"/>
                </a:solidFill>
                <a:latin typeface="Aptos"/>
              </a:defRPr>
            </a:pPr>
            <a:r>
              <a:t>Does predictive behaviour differ across demographic groups?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881360" cy="1371600"/>
          </a:xfrm>
          <a:prstGeom prst="roundRect">
            <a:avLst/>
          </a:prstGeom>
          <a:solidFill>
            <a:srgbClr val="FCE4CD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10424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232323"/>
                </a:solidFill>
                <a:latin typeface="Aptos"/>
              </a:defRPr>
            </a:pPr>
            <a:r>
              <a:t>ANSWER: Differences were observed across demographic groups in several predictive-performance measures.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4251960"/>
          <a:ext cx="103327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24819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FPR</a:t>
                      </a:r>
                    </a:p>
                  </a:txBody>
                  <a:tcPr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FNR</a:t>
                      </a:r>
                    </a:p>
                  </a:txBody>
                  <a:tcPr>
                    <a:solidFill>
                      <a:srgbClr val="1F3452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Gender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3602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0.313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Gender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2917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0.293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Age 0–35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4613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0.296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Age 35–55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0.329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Disability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0.698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0.302</a:t>
                      </a:r>
                    </a:p>
                  </a:txBody>
                  <a:tcPr/>
                </a:tc>
              </a:tr>
              <a:tr h="24819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Disability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0.320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Overall Research Question Evidence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Current status of each research question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46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RQ</a:t>
                      </a:r>
                    </a:p>
                  </a:txBody>
                  <a:tcPr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 Completed</a:t>
                      </a:r>
                    </a:p>
                  </a:txBody>
                  <a:tcPr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Main Result</a:t>
                      </a:r>
                    </a:p>
                  </a:txBody>
                  <a:tcPr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3452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RQ1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EDA + group differences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Consistent engagement differences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Addressed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RQ2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LR + RF + XGBoost + 10-fold 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Predictive signal in both cohorts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Addressed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RQ3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SHAP / XGBoost contributions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Activity &amp; interactions important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Addressed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RQ4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Effect sizes +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100% direction consistency; transfer AU-ROC &gt; 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Addressed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RQ5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Gender + age + disability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Subgroup metric differences 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Addressed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What Has Been Established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Research evidence consolidated across the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881360" cy="1143000"/>
          </a:xfrm>
          <a:prstGeom prst="roundRect">
            <a:avLst/>
          </a:prstGeom>
          <a:solidFill>
            <a:srgbClr val="E2EFDA"/>
          </a:solidFill>
          <a:ln>
            <a:solidFill>
              <a:srgbClr val="4C8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424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232323"/>
                </a:solidFill>
                <a:latin typeface="Aptos"/>
              </a:defRPr>
            </a:pPr>
            <a:r>
              <a:t>Early behavioural engagement provides measurable predictive signal for identifying at-risk learning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The same four engagement features showed consistent directional patterns across OULAD and KDD.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Predictive models achieved measurable discrimination within both cohorts.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Explainability analysis identified activity and interaction measures as important contributors.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Subgroup analysis demonstrated why fairness evaluation is necessary.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Bidirectional transfer retained predictive discrimination but revealed cohort-specific classification shifts.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The results support the feasibility of early identification while highlighting the need for calibration and external validation.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What Remains to Complete the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Moving from analysis to final research validation and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→ Finalise thesis Results and Discussion chapters.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→ Document methodology and leakage-prevention procedures.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→ Complete calibration/threshold discussion.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→ Strengthen interpretation of fairness results.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→ Document limitations of different outcome definitions.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→ Present intervention implications without making causal claims.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→ Complete final thesis conclusion and future-work sections.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